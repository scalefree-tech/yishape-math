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914400"/>
            <a:ext cx="6949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188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线性代数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数据世界的底层语法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| 矩阵 | 分解 | 方程组 | 应用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 线性代数导论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从几何直观到代数运算，从理论到产业应用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产业对应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豆瓣电影评分矩阵补全 → SVD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银行风控特征压缩 → PCA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连锁店选址与原料配比 → 线性规划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文本向量表示 → 矩阵分解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图像去噪与压缩 → 奇异值分解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PageRank网页排名 → 特征值分解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8412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知识地图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73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向量与向量空间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2004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273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94760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矩阵运算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2004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273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矩阵分解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959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线性方程组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886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959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94760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应用三连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886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959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数值稳定性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 学完本章你能做什么？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447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用矩阵分解给用户推荐他可能喜欢的商品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降维分析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2219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用SVD从海量特征中提取主成分，搞清楚哪些信号真正重要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73152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运筹优化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99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用线性规划给连锁奶茶店计算最优原料配比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29000"/>
            <a:ext cx="73152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🗜️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3502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特征压缩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776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用PCA把银行贷款数据从50维压到5维，同时保留95%信息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06240"/>
            <a:ext cx="73152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4279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稳定性判断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5537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用条件数判断你的回归模型对异常值有多脆弱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向量与向量空间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向量不只是「一列数」，还是空间里的一个方向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x = [x₁, x₂, ..., xₙ]ᵀ  是 n 维空间 Rⁿ 中的一个点，代表一个方向和大小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389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几何直观</a:t>
            </a:r>
            <a:endParaRPr lang="en-US" sz="1400" dirty="0"/>
          </a:p>
        </p:txBody>
      </p:sp>
      <p:pic>
        <p:nvPicPr>
          <p:cNvPr id="10" name="Image 0" descr="/home/reremouse/work/yishape-math/book/figures/fig_1_1_vector_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0"/>
            <a:ext cx="4023360" cy="1737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37760" y="246888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基本运算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120640" y="3017520"/>
            <a:ext cx="347472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0" y="30449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加法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3044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0" y="3383280"/>
            <a:ext cx="347472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34107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数乘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9360" y="3410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· 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749040"/>
            <a:ext cx="347472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37764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点积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37764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b = Σaᵢbᵢ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120640" y="4114800"/>
            <a:ext cx="347472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2080" y="4142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范数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09360" y="41422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||a|| = √(Σaᵢ²)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120640" y="4480560"/>
            <a:ext cx="347472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12080" y="45079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叉积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09360" y="45079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× b (3D)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线性相关与线性无关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线性相关的定义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存在不全为零的标量 α₁, α₂, ..., αₙ，使得 α₁v₁ + α₂v₂ + ... + αₙvₙ =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4023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12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线性相关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至少有一个向量可以由其他向量表示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存在冗余信息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张成空间的维度 &lt; 向量个数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例: v₁=[1,0], v₂=[2,0], v₃=[3,0]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v₂ = 2v₁, v₃ = 3v₁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19456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194560"/>
            <a:ext cx="420624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212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线性无关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697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没有任何向量可以由其他向量表示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信息不冗余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张成空间维度 = 向量个数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例: v₁=[1,0], v₂=[0,1]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基向量，线性无关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矩阵运算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矩阵乘法就是线性变换——旋转、拉伸、投影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m×n 矩阵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∈ R^(m×n) 是一个 m 行 n 列的数组，每个元素 aᵢⱼ 表示第 i 行第 j 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77440"/>
            <a:ext cx="26517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377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377440"/>
            <a:ext cx="26517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对称矩阵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Aᵀ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377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377440"/>
            <a:ext cx="265176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对角矩阵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非对角元素=0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74720"/>
            <a:ext cx="2651760" cy="320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正交矩阵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QᵀQ = 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4747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474720"/>
            <a:ext cx="265176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正定矩阵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xᵀAx &gt; 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4747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3474720"/>
            <a:ext cx="26517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稀疏矩阵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大部分元素=0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矩阵乘法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矩阵乘法 C = A × 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Cᵢⱼ = Σₖ Aᵢₖ × Bₖⱼ  （A的列数必须等于B的行数）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矩阵变换几何意义</a:t>
            </a:r>
            <a:endParaRPr lang="en-US" sz="1400" dirty="0"/>
          </a:p>
        </p:txBody>
      </p:sp>
      <p:pic>
        <p:nvPicPr>
          <p:cNvPr id="9" name="Image 0" descr="/home/reremouse/work/yishape-math/book/figures/fig_1_2_matrix_trans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结合律: (AB)C = A(BC)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3136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分配律: A(B+C) = AB+AC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34838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数乘: α(AB) = (αA)B = A(αB)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0" y="38313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转置: (AB)ᵀ = BᵀAᵀ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4178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注意: AB ≠ BA（通常）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注意: AB = 0 ⇏ A=0 or B=0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行列式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行列式的意义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det(A) = 0 ⟺ 矩阵奇异（不可逆） | det(A) = 体积缩放因子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几何意义</a:t>
            </a:r>
            <a:endParaRPr lang="en-US" sz="1400" dirty="0"/>
          </a:p>
        </p:txBody>
      </p:sp>
      <p:pic>
        <p:nvPicPr>
          <p:cNvPr id="9" name="Image 0" descr="/home/reremouse/work/yishape-math/book/figures/fig_1_3_determinant_ge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关键公式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78892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8163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09360" y="28163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 = ad - bc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136392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1638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0" y="316382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Laplace展开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3483864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5112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乘积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360" y="351129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det(AB) = det(A)det(B)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03520" y="3831336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38587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转置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09360" y="3858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det(Aᵀ) = det(A)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03520" y="4178808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0" y="4206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09360" y="4206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det(A⁻¹) = 1/det(A)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303520" y="452628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94960" y="45537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特征值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309360" y="4553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det(A) = Πλᵢ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逆矩阵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逆矩阵定义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A⁻¹ × A = A × A⁻¹ = I   当且仅当 det(A) ≠ 0（矩阵非奇异）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 公式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A⁻¹ = (1/det) × [d, -b; -c, a]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9456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乘积逆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(AB)⁻¹ = B⁻¹A⁻¹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00400"/>
            <a:ext cx="73152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转置逆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(Aᵀ)⁻¹ = (A⁻¹)ᵀ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00400"/>
            <a:ext cx="73152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A⁺ = (AᵀA)⁻¹Aᵀ (Moore-Penrose)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当矩阵奇异或接近奇异时，用伪逆或正则化代替直接求逆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矩阵的秩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秩的定义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rank(A) = 矩阵中线性无关行（列）的最大数量 = 列空间维度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秩的几何意义</a:t>
            </a:r>
            <a:endParaRPr lang="en-US" sz="1400" dirty="0"/>
          </a:p>
        </p:txBody>
      </p:sp>
      <p:pic>
        <p:nvPicPr>
          <p:cNvPr id="9" name="Image 0" descr="/home/reremouse/work/yishape-math/book/figures/fig_1_5_matrix_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秩的性质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 ≤ rank(A) ≤ min(m,n)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3136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rank(Aᵀ) = rank(A)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34838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rank(AB) ≤ min(rank(A), rank(B))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0" y="38313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rank(A+B) ≤ rank(A) + rank(B)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4178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A满秩 ⟺ det(A) ≠ 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方程组有解 ⟺ rank(A) = rank([A|b])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特征值分解 (EVD)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特征值方程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 = λv   其中 v 是特征向量，λ 是特征值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几何意义</a:t>
            </a:r>
            <a:endParaRPr lang="en-US" sz="1400" dirty="0"/>
          </a:p>
        </p:txBody>
      </p:sp>
      <p:pic>
        <p:nvPicPr>
          <p:cNvPr id="9" name="Image 0" descr="/home/reremouse/work/yishape-math/book/figures/fig_1_4_eigen_ge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关键性质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det(A) = Πλᵢ (特征值乘积)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3136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tr(A) = Σλᵢ (特征值和)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34838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对称矩阵特征值实数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0" y="38313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正定矩阵 λᵢ &gt; 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4178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A⁻¹ 的特征值: 1/λᵢ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特征向量 vᵢ 线性无关 ⟹ A可对角化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奇异值分解 (SVD)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SVD分解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UΣVᵀ   U∈R^(m×m), Σ∈R^(m×n), V∈R^(n×n)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(左奇异向量)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m×m正交矩阵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A的行空间基向量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(奇异值)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m×n对角矩阵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对角线为σ₁≥σ₂≥...≥0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Vᵀ (右奇异向量)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n×n正交矩阵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A的列空间基向量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SVD的几何意义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任何m×n矩阵A代表了一个从n维空间到m维空间的线性变换。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这个变换可以分解为：旋转(Vᵀ) → 缩放(Σ) → 旋转(U)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PCA（主成分分析）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PCA核心思想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在数据方差最大的方向（主成分）上做投影，实现降维同时保留信息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完整流程</a:t>
            </a:r>
            <a:endParaRPr lang="en-US" sz="1400" dirty="0"/>
          </a:p>
        </p:txBody>
      </p:sp>
      <p:pic>
        <p:nvPicPr>
          <p:cNvPr id="9" name="Image 0" descr="/home/reremouse/work/yishape-math/book/figures/fig_5_4_1_pca_full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80467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SVD与PCA的关系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PCA可以用SVD高效计算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UΣVᵀ  →  V 的列向量就是主成分方向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via 特征分解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中心化: Xc = X - 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协方差矩阵: C = XcᵀXc/n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特征分解: C = VΛVᵀ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取前K个特征向量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缺点: 当d很大时计算量大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19456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via SVD（更常用）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中心化: Xc = X - 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直接SVD: Xc = UΣVᵀ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V的列向量即主成分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取前K列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更数值稳定，效率更高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线性方程组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 = b：当方程组无解时，如何找到「最近似的解」？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恰定方程组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n, det(A) ≠ 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唯一解: x = A⁻¹b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280160"/>
            <a:ext cx="265176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超定方程组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&gt; n（方程多于未知数）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无精确解，求最小二乘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欠定方程组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&lt; n（方程少于未知数）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无穷多解，找范数最小解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最小二乘法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目标: min ||Ax - b||²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正规方程: AᵀAx = Aᵀb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解: x* = (AᵀA)⁻¹Aᵀb = A⁺b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几何意义: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在列空间中找到最接近b的点</a:t>
            </a:r>
            <a:endParaRPr lang="en-US" sz="1200" dirty="0"/>
          </a:p>
        </p:txBody>
      </p:sp>
      <p:pic>
        <p:nvPicPr>
          <p:cNvPr id="21" name="Image 0" descr="/home/reremouse/work/yishape-math/book/figures/fig_1_6_orth_pro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31920"/>
            <a:ext cx="80467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高斯消元法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高斯消元法步骤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前向消元 → 变成上三角矩阵 → 回代求解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消元过程示意</a:t>
            </a:r>
            <a:endParaRPr lang="en-US" sz="1400" dirty="0"/>
          </a:p>
        </p:txBody>
      </p:sp>
      <p:pic>
        <p:nvPicPr>
          <p:cNvPr id="9" name="Image 0" descr="/home/reremouse/work/yishape-math/book/figures/fig_1_7_1_gauss_elimi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LU分解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788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LU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L: 下三角（含1对角）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U: 上三角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 Ax = b ⟹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Ly = b → y = L⁻¹b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 = y → x = U⁻¹y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多次求解时效率高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只需一次分解，多次回代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正交投影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正交投影矩阵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A(AᵀA)⁻¹Aᵀ   将任意向量投影到A的列空间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正交投影的性质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P² = P（幂等性）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Pᵀ = P（对称性）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5701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(I-P)² = I-P（余投影）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410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投影误差: (I-P)b 与 列空间正交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251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最小二乘解 x̂ = (AᵀA)⁻¹Aᵀb 使得误差向量 e = b - Ax̂ 最小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应用一：PCA图像压缩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PCA图像压缩流程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 → 分块 → SVD → 保留前k个奇异值 → 重构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压缩效果示意</a:t>
            </a:r>
            <a:endParaRPr lang="en-US" sz="1400" dirty="0"/>
          </a:p>
        </p:txBody>
      </p:sp>
      <p:pic>
        <p:nvPicPr>
          <p:cNvPr id="9" name="Image 0" descr="/home/reremouse/work/yishape-math/book/figures/fig_5_4_1_pca_full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压缩分析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788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原图: m×n 个像素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压缩: 保留k个奇异值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存储: 原始mn → k(m+n+1)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03520" y="356616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35935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3593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压缩~50x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03520" y="397764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4960" y="40050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k=50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9360" y="4005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压缩~10x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03520" y="438912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44165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k=100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44165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压缩~5x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应用二：图像压缩与去噪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SVD图像压缩原理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≈ Uₖ · Σₖ · Vₖᵀ  只保留前k个奇异值，实现有损压缩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JPEG vs SVD压缩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JPEG: 离散余弦变换 (DCT)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SVD: 矩阵分解最优近似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SVD可捕获全局结构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JPEG适合自然图像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两者可结合使用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19456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去噪原理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788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噪声图: A_noise = A_true + Noise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奇异值分布: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大奇异值 → 真实信号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小奇异值 → 噪声主导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去噪: 保留前k个大奇异值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840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关键: 选择合适的k值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太小 → 去噪不充分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太大 → 保留过多噪声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应用三：信号滤波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滤波与SVD的关系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 → Hankel矩阵化 → SVD → 奇异值阈值过滤 → 重构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音频去噪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去除背景噪音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9456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图像修复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去除划痕、模糊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91840"/>
            <a:ext cx="73152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心电图分析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去除基线漂移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91840"/>
            <a:ext cx="73152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振动分析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提取特征频率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核心思想：利用信号的结构性（低秩性）与噪声的随机性进行分离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数值稳定性：条件数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条件数定义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cond(A) = ||A|| · ||A⁻¹|| = σ_max / σ_min   条件数越大，矩阵越「病态」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病态矩阵示例</a:t>
            </a:r>
            <a:endParaRPr lang="en-US" sz="1400" dirty="0"/>
          </a:p>
        </p:txBody>
      </p:sp>
      <p:pic>
        <p:nvPicPr>
          <p:cNvPr id="9" name="Image 0" descr="/home/reremouse/work/yishape-math/book/figures/fig_1_9_1_condition_nu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含义与应对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7889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 ≈ 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94960" y="3154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良态，计算稳定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33756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383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&lt; cond &lt; 1000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3703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中等病态，注意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388620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 &gt; 1000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94960" y="4251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严重病态，需正则化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0352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应对: 岭回归、Tikhonov正则化、截断SVD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数值稳定性实用建议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避免直接求逆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解Ax=b时，用LU分解或QR分解，而非A⁻¹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73152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使用SVD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SVD是最稳定的矩阵分解，可检测并处理秩亏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73152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添加λI使(A+λI)更良态，再求逆或分解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2900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缩放数据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计算前对数据进行标准化，避免列向量尺度差异大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0624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使用正交变换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QR分解中用Householder或Givens旋转，保持数值稳定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Cholesky分解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Cholesky分解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LLᵀ   L是下三角矩阵（Cholesky因子）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分解过程</a:t>
            </a:r>
            <a:endParaRPr lang="en-US" sz="1400" dirty="0"/>
          </a:p>
        </p:txBody>
      </p:sp>
      <p:pic>
        <p:nvPicPr>
          <p:cNvPr id="9" name="Image 0" descr="/home/reremouse/work/yishape-math/book/figures/fig_1_8_1_ldl_choles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正定矩阵（尤其对称正定）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协方差矩阵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最小二乘法的正规方程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蒙特卡洛模拟中的相关矩阵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3749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计算量是LU分解的一半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存储量更小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注意: 非正定时可能失败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可用LDLᵀ或Perturbation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线性代数知识地图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向量与向量空间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向量运算、线性相关、范数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矩阵运算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乘法、逆、秩、行列式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344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矩阵分解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EVD、SVD、PCA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线性方程组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最小二乘、LU分解、投影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6974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应用三连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PCA图像压缩、信号滤波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6974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数值稳定性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条件数、Cholesky、正则化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YiShape Math 代码风格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svd = Decomps.svd(A); var lambda = svd.s(); var pca = Decomps.pca(X, k=5);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代码风格约定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推荐写法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工厂类入口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Linalg.vector(new double[]{1.0, 2.0});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Linalg.matrix(new double[][]{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{1.0, 0.0},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{0.0, 2.0}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链式调用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A.multiply(x).add(b).sum();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SVD分解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svd = Decomps.svd(A);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sigma = svd.s();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2062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097280"/>
            <a:ext cx="420624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避免写法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直接 new 实现类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new RereDoubleVector(...);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new RereDoubleMatrix(...);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写死实现类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matrix.multiply(vector);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直接求逆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Ainv = A.inverse(); // 可能病态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YiShape Math - 线性代数</dc:title>
  <dc:subject>PptxGenJS Presentation</dc:subject>
  <dc:creator>YiShape Math Team</dc:creator>
  <cp:lastModifiedBy>YiShape Math Team</cp:lastModifiedBy>
  <cp:revision>1</cp:revision>
  <dcterms:created xsi:type="dcterms:W3CDTF">2026-04-14T08:40:36Z</dcterms:created>
  <dcterms:modified xsi:type="dcterms:W3CDTF">2026-04-14T08:40:36Z</dcterms:modified>
</cp:coreProperties>
</file>