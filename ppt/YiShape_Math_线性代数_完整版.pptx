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73152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线性代数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数据世界的底层语法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· 矩阵 · 分解 · 方程组 · 应用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读完本章你能做什么？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用矩阵分解给用户推荐他可能喜欢的商品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73152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用SVD从海量特征中提取主成分，搞清楚哪些信号真正重要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33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615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运筹优化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8895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用线性规划给连锁奶茶店计算最优原料配比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28416"/>
            <a:ext cx="73152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🗜️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419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特征压缩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6941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用PCA把银行贷款数据从50维压到5维，同时保留95%信息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42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4224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稳定性判断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4988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用条件数判断你的回归模型对异常值有多脆弱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章节与产业的对应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豆瓣电影评分矩阵补全 → SVD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银行风控特征压缩 → PCA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连锁店选址与原料配比 → 线性规划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文本向量表示 → 矩阵分解+SVD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图像去噪与压缩 → 奇异值分解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PageRank网页排名 → 特征值分解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91840"/>
            <a:ext cx="8412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10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小故事：为什么豆瓣知道你喜欢什么电影？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想象一个巨大的表格：行是用户，列是电影，单元格是评分。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这个矩阵99%的位置都是空的（你没看过的电影）。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SVD的魔力：它能根据你评过的电影，推测你可能喜欢的电影类型！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这就是Netflix Prize竞赛 winning solution的核心算法。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本章知识地图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向量与向量空间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向量运算、线性相关、范数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51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矩阵运算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乘法、逆、秩、行列式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515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EVD、SVD、PCA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线性方程组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最小二乘、LU分解、投影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4231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应用三连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PCA图像压缩、信号滤波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4231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数值稳定性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条件数、Cholesky、正则化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向量与向量空间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向量空间可视化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1_vector_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7490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914400"/>
            <a:ext cx="41148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核心概念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0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x = [x₁, x₂, ..., xₙ]ᵀ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801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n维空间Rⁿ中的一个点/方向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46320" y="2167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点积 a·b = Σaᵢbᵢ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24597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衡量两个向量的相似度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825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范数 ‖a‖ = √(Σaᵢ²)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1181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向量的长度/大小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34838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叉积 a × b (3D)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3776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生成垂直于两向量的新向量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4142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线性无关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4434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没有任何向量可由其他向量线性表示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向量的基本运算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+ b = [a₁+b₁, a₂+b₂, ...]ᵀ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· a = [αa₁, αa₂, ...]ᵀ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b = Σaᵢbᵢ = ‖a‖‖b‖cosθ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77440"/>
            <a:ext cx="265176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‖a‖ = √(Σaᵢ²)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37744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377440"/>
            <a:ext cx="2651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834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× b (3D only)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几何直观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向量就是一个有方向和长度的箭头！加法就是首尾相接，平行四边形对角线就是和。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线性相关与线性无关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5455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线性相关的定义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存在不全为零的标量 α₁, α₂, ..., αₙ，使得 α₁v₁ + α₂v₂ + ... + αₙvₙ =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03120"/>
            <a:ext cx="4023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线性相关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至少有一个向量可以由其他向量表示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存在冗余信息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张成空间的维度 &lt; 向量个数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v₁=[1,0], v₂=[2,0], v₃=[3,0]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v₂ = 2v₁, v₃ = 3v₁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三个向量只张成一维空间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42062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03120"/>
            <a:ext cx="420624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线性无关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606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没有任何向量可以由其他向量表示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信息不冗余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张成空间维度 = 向量个数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657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v₁=[1,0], v₂=[0,1]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无法用一个表示另一个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张成整个二维平面R²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矩阵运算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5455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m×n 矩阵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∈ R^(m×n) 是一个 m 行 n 列的数组，每个元素 aᵢⱼ 表示第 i 行第 j 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03120"/>
            <a:ext cx="26517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03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03120"/>
            <a:ext cx="2651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103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对称矩阵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542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Aᵀ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03120"/>
            <a:ext cx="26517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103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对角矩阵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542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非对角元素=0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00400"/>
            <a:ext cx="265176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0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正交矩阵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39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QᵀQ = 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2004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3200400"/>
            <a:ext cx="26517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200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正定矩阵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3639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xᵀAx &gt; 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2004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200400"/>
            <a:ext cx="265176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200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稀疏矩阵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3639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大部分元素=0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矩阵运算可视化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矩阵运算 | Matrix Operations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2_matrix_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矩阵乘法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矩阵乘法 C = A × 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Cᵢⱼ = Σₖ Aᵢₖ × Bₖⱼ  （A的列数必须等于B的行数）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矩阵变换几何意义</a:t>
            </a:r>
            <a:endParaRPr lang="en-US" sz="1400" dirty="0"/>
          </a:p>
        </p:txBody>
      </p:sp>
      <p:pic>
        <p:nvPicPr>
          <p:cNvPr id="9" name="Image 0" descr="/home/reremouse/work/yishape-math/book/figures/fig_1_2_matrix_trans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结合律: (AB)C = A(BC)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分配律: A(B+C) = AB+AC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374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数乘: α(AB) = (αA)B = A(αB)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7581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转置: (AB)ᵀ = BᵀAᵀ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4142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注意: AB ≠ BA（通常）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4526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注意: AB = 0 ⇏ A=0 or B=0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行列式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行列式的意义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det(A) = 0 ⟺ 矩阵奇异（不可逆） | det(A) = 体积缩放因子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几何意义：行列式 = 平行四边形面积</a:t>
            </a:r>
            <a:endParaRPr lang="en-US" sz="1400" dirty="0"/>
          </a:p>
        </p:txBody>
      </p:sp>
      <p:pic>
        <p:nvPicPr>
          <p:cNvPr id="9" name="Image 0" descr="/home/reremouse/work/yishape-math/book/figures/fig_1_3_determinant_ge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关键公式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56032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5877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0" y="2587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= ad - bc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2944368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2971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2971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Laplace展开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3328416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355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33558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det(AB) = det(A)det(B)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03520" y="3712464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37398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转置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09360" y="37398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det(Aᵀ) = det(A)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03520" y="4096512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4123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09360" y="41239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det(A⁻¹) = 1/det(A)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03520" y="448056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94960" y="45079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特征值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09360" y="4507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det(A) = Πλᵢ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矩阵的秩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秩的定义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rank(A) = 矩阵中线性无关行（列）的最大数量 = 列空间维度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秩的几何意义</a:t>
            </a:r>
            <a:endParaRPr lang="en-US" sz="1400" dirty="0"/>
          </a:p>
        </p:txBody>
      </p:sp>
      <p:pic>
        <p:nvPicPr>
          <p:cNvPr id="9" name="Image 0" descr="/home/reremouse/work/yishape-math/book/figures/fig_1_5_matrix_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秩的性质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 ≤ rank(A) ≤ min(m,n)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rank(Aᵀ) = rank(A)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374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rank(AB) ≤ min(rank(A), rank(B))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7581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rank(A+B) ≤ rank(A) + rank(B)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4142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A满秩 ⟺ det(A) ≠ 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4526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方程组有解 ⟺ rank(A) = rank([A|b])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特征值分解 (EVD)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特征值方程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 = λv   其中 v 是特征向量，λ 是特征值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几何意义：特征向量只被伸缩，不被旋转</a:t>
            </a:r>
            <a:endParaRPr lang="en-US" sz="1400" dirty="0"/>
          </a:p>
        </p:txBody>
      </p:sp>
      <p:pic>
        <p:nvPicPr>
          <p:cNvPr id="9" name="Image 0" descr="/home/reremouse/work/yishape-math/book/figures/fig_1_4_eigen_ge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关键性质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det(A) = Πλᵢ (特征值乘积)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tr(A) = Σλᵢ (特征值和)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3374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对称矩阵特征值实数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7581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正定矩阵 λᵢ &gt; 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41422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A⁻¹ 的特征值: 1/λᵢ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4526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特征向量线性无关 ⟹ A可对角化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奇异值分解 (SVD)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SVD分解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UΣVᵀ   U∈R^(m×m), Σ∈R^(m×n), V∈R^(n×n)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(左奇异向量)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m×m正交矩阵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A的行空间基向量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(奇异值)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m×n对角矩阵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对角线为σ₁≥σ₂≥...≥0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51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Vᵀ (右奇异向量)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n×n正交矩阵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A的列空间基向量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841248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SVD的几何意义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任何m×n矩阵A代表了一个从n维空间到m维空间的线性变换。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这个变换可以分解为：旋转(Vᵀ) → 缩放(Σ) → 旋转(U)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这就是为什么SVD被称为「矩阵的万有分解」！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SVD 与 PCA 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SVD &amp; PCA 分析 | SVD &amp; PCA Analysis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3_svd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PCA（主成分分析）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PCA核心思想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在数据方差最大的方向（主成分）上做投影，实现降维同时保留信息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完整流程</a:t>
            </a:r>
            <a:endParaRPr lang="en-US" sz="1400" dirty="0"/>
          </a:p>
        </p:txBody>
      </p:sp>
      <p:pic>
        <p:nvPicPr>
          <p:cNvPr id="9" name="Image 0" descr="/home/reremouse/work/yishape-math/book/pptx_output/charts/la_5_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8046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线性方程组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 = b：当方程组无解时，如何找到「最近似的解」？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恰定方程组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n, det(A) ≠ 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唯一解: x = A⁻¹b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80160"/>
            <a:ext cx="26517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超定方程组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&gt; n（方程多于未知数）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无精确解，求最小二乘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欠定方程组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&lt; n（方程少于未知数）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无穷多解，找范数最小解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最小二乘法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目标: min ||Ax - b||²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正规方程: AᵀAx = Aᵀb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解: x* = (AᵀA)⁻¹Aᵀb = A⁺b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几何意义: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在列空间中找到最接近b的点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误差向量与列空间正交</a:t>
            </a:r>
            <a:endParaRPr lang="en-US" sz="1200" dirty="0"/>
          </a:p>
        </p:txBody>
      </p:sp>
      <p:pic>
        <p:nvPicPr>
          <p:cNvPr id="21" name="Image 0" descr="/home/reremouse/work/yishape-math/book/figures/fig_1_6_orth_pro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80467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线性系统与最小二乘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线性系统可视化 | Linear Systems &amp; Least Squares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4_linear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高斯消元法与LU分解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高斯消元法步骤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前向消元 → 变成上三角矩阵 → 回代求解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消元过程示意</a:t>
            </a:r>
            <a:endParaRPr lang="en-US" sz="1400" dirty="0"/>
          </a:p>
        </p:txBody>
      </p:sp>
      <p:pic>
        <p:nvPicPr>
          <p:cNvPr id="9" name="Image 0" descr="/home/reremouse/work/yishape-math/book/figures/fig_1_7_1_gauss_elimi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LU分解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LU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L: 下三角（含1对角）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U: 上三角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 Ax = b 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Ly = b → y = L⁻¹b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= y → x = U⁻¹y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多次求解时效率高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只需一次分解，多次回代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正交投影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正交投影矩阵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A(AᵀA)⁻¹Aᵀ   将任意向量投影到A的列空间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正交投影的性质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P² = P（幂等性）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Pᵀ = P（对称性）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(I-P)² = I-P（余投影）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投影误差: (I-P)b 与 列空间正交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最小二乘解 x̂ = (AᵀA)⁻¹Aᵀb 使得误差向量 e = b - Ax̂ 最小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几何直观：就像在墙上打灯光，投影就是你在墙上的影子。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正交投影就是光线垂直于墙面的情况——影子最短！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应用一：PCA图像压缩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PCA图像压缩流程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→ 分块 → SVD → 保留前k个奇异值 → 重构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压缩效果示意</a:t>
            </a:r>
            <a:endParaRPr lang="en-US" sz="1400" dirty="0"/>
          </a:p>
        </p:txBody>
      </p:sp>
      <p:pic>
        <p:nvPicPr>
          <p:cNvPr id="9" name="Image 0" descr="/home/reremouse/work/yishape-math/book/pptx_output/charts/la_5_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压缩分析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原图: m×n 个像素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压缩: 保留k个奇异值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存储: 原始mn → k(m+n+1)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03520" y="356616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35935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3593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压缩~50x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03520" y="397764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40050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k=50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4005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压缩~10x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03520" y="438912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44165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k=100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4416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压缩~5x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应用二：图像去噪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SVD去噪原理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噪声图: A_noise = A_true + Noise  →  奇异值过滤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233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去噪原理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奇异值分布: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大奇异值 → 真实信号主导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小奇异值 → 噪声主导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去噪: 保留前k个大奇异值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选择合适的k值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太小 → 去噪不充分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太大 → 保留过多噪声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011680"/>
            <a:ext cx="420624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信号处理应用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334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音频去噪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去除背景噪音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278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图像修复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227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去除划痕、模糊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822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心电图分析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3822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去除基线漂移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34340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4165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振动分析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4416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提取特征频率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数值稳定性：条件数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条件数定义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cond(A) = ||A|| · ||A⁻¹|| = σ_max / σ_min   条件数越大，矩阵越「病态」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病态矩阵示例</a:t>
            </a:r>
            <a:endParaRPr lang="en-US" sz="1400" dirty="0"/>
          </a:p>
        </p:txBody>
      </p:sp>
      <p:pic>
        <p:nvPicPr>
          <p:cNvPr id="9" name="Image 0" descr="/home/reremouse/work/yishape-math/book/figures/fig_1_9_1_condition_nu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含义与应对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2606040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6791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 ≈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94960" y="2971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良态，计算稳定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200400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32735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&lt; cond &lt; 1000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3566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中等病态，注意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3794760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8679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 &gt; 1000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94960" y="4160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严重病态，需正则化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0352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应对: 岭回归、Tikhonov正则化、截断SVD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Cholesky分解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Cholesky分解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LLᵀ   L是下三角矩阵（Cholesky因子）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572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分解过程</a:t>
            </a:r>
            <a:endParaRPr lang="en-US" sz="1400" dirty="0"/>
          </a:p>
        </p:txBody>
      </p:sp>
      <p:pic>
        <p:nvPicPr>
          <p:cNvPr id="9" name="Image 0" descr="/home/reremouse/work/yishape-math/book/figures/fig_1_8_1_ldl_chole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420624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2011680"/>
            <a:ext cx="3657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正定矩阵（尤其对称正定）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协方差矩阵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最小二乘法的正规方程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蒙特卡洛模拟中的相关矩阵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计算量是LU分解的一半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存储量更小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4434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注意: 非正定时可能失败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可用LDLᵀ或Perturbation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代码风格约定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推荐写法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工厂类入口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 = Linalg.vector([1.0, 2.0, 3.0]);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A = Linalg.matrix([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[1.0, 0.0],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[0.0, 2.0]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链式调用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result = A.multiply(x).add(b).sum();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SVD分解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svd = Decomps.svd(A);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sigma = svd.s();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避免写法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直接 new 实现类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 = new RereDoubleVector(...);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A = new RereDoubleMatrix(...);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写死实现类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result = matrix.multiply(vector);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直接求逆（可能病态）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Ainv = A.inverse();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 Part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向量与向量空间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向量运算、线性相关、范数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矩阵运算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乘法、逆、秩、行列式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矩阵分解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EVD、SVD、PCA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 Part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线性方程组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最小二乘、LU分解、投影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应用三连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PCA图像压缩、信号滤波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数值稳定性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条件数、Cholesky、正则化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逆矩阵详解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逆矩阵定义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A⁻¹ × A = A × A⁻¹ = I   当且仅当 det(A) ≠ 0（矩阵非奇异）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 公式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A⁻¹ = (1/det) × [d, -b; -c, a]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1168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乘积逆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(AB)⁻¹ = B⁻¹A⁻¹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0400"/>
            <a:ext cx="73152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转置逆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(Aᵀ)⁻¹ = (A⁻¹)ᵀ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00400"/>
            <a:ext cx="73152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703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A⁺ = (AᵀA)⁻¹Aᵀ (Moore-Penrose)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当矩阵奇异或接近奇异时，用伪逆或正则化代替直接求逆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SVD深入理解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SVD vs PCA 的关系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PCA可以用SVD高效计算：X = UΣVᵀ，V的列向量就是主成分方向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SVD直接求解比先算协方差矩阵再特征分解更稳定、更高效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特征分解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协方差矩阵: C = XcᵀXc/n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特征分解: C = VΛVᵀ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取前K个特征向量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当d很大时计算量大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42062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via SVD（更常用）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中心化: Xc = X - 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直接SVD: Xc = UΣVᵀ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V的列向量即主成分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取前K列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无需计算协方差矩阵，更数值稳定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数值稳定性实用建议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避免直接求逆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解Ax=b时，用LU分解或QR分解，而非A⁻¹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73152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792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使用SVD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SVD是最稳定的矩阵分解，可检测并处理秩亏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7315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33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5968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895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添加λI使(A+λI)更良态，再求逆或分解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28416"/>
            <a:ext cx="73152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缩放数据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6941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计算前对数据进行标准化，避免列向量尺度差异大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73152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42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使用正交变换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QR分解中用Householder或Givens旋转，保持数值稳定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降维的哲学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小故事：降维打击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想象你要向一个从未见过3D眼镜的人解释3D电影。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你可以花2小时描述所有角度、所有光影、所有景深……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或者你直接给他一副3D眼镜（降维投影）。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PCA就是这样一副「数学眼镜」——它找到最重要的「视角」，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让你用更少的信息看到数据的本质。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降维的核心思想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降维不是简单删除维度，而是找到「更好的视角」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主成分是数据方差最大的方向，代表了最多的信息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降维必然损失信息，关键是损失「不重要」的信息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好的降维：保留90%信息的同时，把维度从100降到10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推荐系统的秘密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小故事：Netflix Prize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2006年Netflix悬赏100万美元：谁能将推荐准确度提高10%。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获胜队伍的核心算法就是SVD矩阵分解！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他们把用户-电影评分矩阵分解为：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「用户喜好特征」×「电影类型特征」+ 「偏置项」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这让你的「口味」被编码成了几个数字，你喜欢什么类型一目了然。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技术细节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评分矩阵 R ≈ U × Σ × Vᵀ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U: 用户特征矩阵（谁喜欢什么类型）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Σ: 奇异值（各类型重要性）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Vᵀ: 电影特征矩阵（各电影类型权重）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通过预测 R[i,j] = U[i,:] × Σ × V[:,j] 来给用户推荐未看过的电影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矩阵：世界的语言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小故事：矩阵的魔力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如果你把世界数字化，矩阵就是描述这个数字世界的「语法」。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社交网络 → 用户关系矩阵 → PageRank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图像 → 像素矩阵 → 图像压缩、风格迁移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文本 → 词频矩阵 → 主题模型、情感分析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基因表达 → 基因矩阵 → 疾病诊断、药物研发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掌握矩阵，就是掌握了数字化世界的钥匙。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图像处理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SVD压缩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风格迁移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词向量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主题模型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推荐系统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协同过滤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矩阵分解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降维可视化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4480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特征提取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优化的艺术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小故事：奶茶店的最优配比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你是一家奶茶店老板，要配置2000杯奶茶的原料。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每杯需要：茶叶、糖、奶、水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每天供应有限：茶叶100kg、糖50kg、奶80kg、水无限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目标是最大化销量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这个问题就是一个线性规划问题：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最大化销量 subject to 原料约束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线性规划标准形式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 cᵀx  subject to: Ax ≤ b, x ≥ 0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c: 成本向量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A: 约束矩阵（原料配比）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b: 资源上限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x: 决策变量（各原料用量）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求解方法：单纯形法、内点法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特征值的物理意义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小故事：弹簧振动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想象一个多自由度弹簧系统。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当你不施加外力时，系统会以某些「固有频率」自由振动。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这些固有频率，就是系统的特征值。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地震学家用这个原理分析地震波的传播。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工程师用这个原理设计抗震建筑。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特征值告诉你：系统的「本质振动模式」是什么。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特征值的应用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振动分析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固有频率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结构稳定性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临界载荷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主成分分析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PageRank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特征向量中心性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最小二乘的历史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286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小故事：最小二乘法的诞生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1801年，天文学家发现谷神星。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问题是：只有少量观测数据，如何预测它的轨道？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高斯站了出来：用最小二乘法！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他的方法：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假设一个椭圆轨道（参数未知）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让观测误差的平方和最小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预测结果精确到1度以内！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这个方法至今仍是所有回归分析的基础。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8412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为什么是平方？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平方让正负误差都能被计入（绝对值也可以，但平方在数学上更方便求导）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平方惩罚大的误差更多（误差翻倍 → 损失翻四倍）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在高斯噪声假设下，最小二乘是最优估计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 API速查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线性代数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向量创建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 = Linalg.vector([1.0, 2.0, 3.0]);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矩阵创建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A = Linalg.matrix([[1,0],[0,1]]);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SVD分解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svd = Decomps.svd(A);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sigma = svd.s();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PCA降维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pca = Decomps.pca(X, k=5);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最小二乘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 = LinAlg.lstsq(A, b);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Cholesky分解(正定)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L = Decomp.chol(A);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条件数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cond = LinAlg.cond(A);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向量是空间的方向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理解向量就是理解线性代数的第一步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矩阵是线性变换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乘法就是旋转、拉伸、投影的组合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分解是降维的工具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SVD/PCA让你用更少的信息做更多的事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最小二乘是近似解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当精确解不存在时，找到最好的近似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线性代数不是数学家的游戏，而是数据世界的底层语法！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线性代数</dc:title>
  <dc:subject>PptxGenJS Presentation</dc:subject>
  <dc:creator>YiShape Math Team</dc:creator>
  <cp:lastModifiedBy>YiShape Math Team</cp:lastModifiedBy>
  <cp:revision>1</cp:revision>
  <dcterms:created xsi:type="dcterms:W3CDTF">2026-04-14T12:12:01Z</dcterms:created>
  <dcterms:modified xsi:type="dcterms:W3CDTF">2026-04-14T12:12:01Z</dcterms:modified>
</cp:coreProperties>
</file>