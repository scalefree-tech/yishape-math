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6949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从数据中学习预测的艺术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| 分类 | 聚类 | 降维 | 集成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机器学习导论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三个臭皮匠，顶个诸葛亮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机器学习的核心问题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给定历史数据，找到一个函数 f，使 f(x) 能够预测 y，同时具有良好的泛化能力。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56032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560320"/>
            <a:ext cx="73152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5661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56616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集成学习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回归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预测连续值：房价、销售额、流量...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回归的核心问题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 (x₁,y₁), (x₂,y₂), ..., (xₙ,yₙ)，找函数 f 使 y ≈ f(x)，同时具有良好的泛化能力。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20116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wᵀx +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560320"/>
            <a:ext cx="2011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多项式回归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Σwᵢxⁱ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岭回归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L2正则化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5603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560320"/>
            <a:ext cx="201168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L1正则化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残差分析：真实值与预测值的差异</a:t>
            </a:r>
            <a:endParaRPr lang="en-US" sz="1400" dirty="0"/>
          </a:p>
        </p:txBody>
      </p:sp>
      <p:pic>
        <p:nvPicPr>
          <p:cNvPr id="26" name="Image 0" descr="/home/reremouse/work/yishape-math/book/figures/fig_5_1_1_regression_residu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160520"/>
            <a:ext cx="27432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线性回归详解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线性回归模型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Xw + ε   最小化: L(w) = ||Xw - y||²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正规方程解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w* = (XᵀX)⁻¹Xᵀy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优点: 闭式解，一步到位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缺点: XᵀX求逆 O(d³)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d &gt; 10000 或 n 很大时，梯度下降更高效。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梯度下降法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:= w - α × ∇L(w)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随机梯度下降 (SGD)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小批量梯度下降 (Mini-batch)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566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O(nd) 每次迭代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需要调学习率α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正则化：岭回归与Lasso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岭回归 Ridge (L2)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L(w) = ||Xw - y||² + λ||w||²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将 w 往零收缩，但不归零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保留所有特征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特征多但相关性强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共线性问题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 (L1)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L(w) = ||Xw - y||² + λ|w|₁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产生稀疏解，使部分w=0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特征选择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特征多但只有部分有用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可解释性需求高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Ridge 路径</a:t>
            </a:r>
            <a:endParaRPr lang="en-US" sz="1200" dirty="0"/>
          </a:p>
        </p:txBody>
      </p:sp>
      <p:pic>
        <p:nvPicPr>
          <p:cNvPr id="16" name="Image 0" descr="/home/reremouse/work/yishape-math/book/figures/fig_5_1_3_ridge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3657600" cy="1097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754880" y="31089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 路径</a:t>
            </a:r>
            <a:endParaRPr lang="en-US" sz="1200" dirty="0"/>
          </a:p>
        </p:txBody>
      </p:sp>
      <p:pic>
        <p:nvPicPr>
          <p:cNvPr id="19" name="Image 1" descr="/home/reremouse/work/yishape-math/book/figures/fig_5_1_4_lasso_p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57600"/>
            <a:ext cx="36576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多项式回归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多项式回归示意</a:t>
            </a:r>
            <a:endParaRPr lang="en-US" sz="1400" dirty="0"/>
          </a:p>
        </p:txBody>
      </p:sp>
      <p:pic>
        <p:nvPicPr>
          <p:cNvPr id="6" name="Image 0" descr="/home/reremouse/work/yishape-math/book/figures/fig_5_1_2_poly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2062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09728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多项式回归要点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通过特征变换 x → [1, x, x², ..., xᵈ]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本质仍是线性回归，只是特征非线性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0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阶数d越大，模型越复杂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过拟合风险：d过高 → 训练好，测试差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欠拟合风险：d过低 → 训练测试都差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选择方法：交叉验证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6576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偏差-方差权衡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d↑ → 偏差↓ 但 方差↑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最优d = 平衡点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分类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预测离散标签：垃圾邮件、图像识别...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分类 vs 回归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回归: y ∈ ℝ (连续) → 分类: y ∈ {0, 1, ..., K} (离散)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概率建模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56032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距离最近邻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56032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最大间隔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49040"/>
            <a:ext cx="73152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朴素贝叶斯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贝叶斯定理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74904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规则分裂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749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74904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多层感知机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逻辑回归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逻辑回归模型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P(y=1|x) = σ(wᵀx + b)  其中 σ(z) = 1/(1+e⁻ᶻ)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决策边界示意</a:t>
            </a:r>
            <a:endParaRPr lang="en-US" sz="1400" dirty="0"/>
          </a:p>
        </p:txBody>
      </p:sp>
      <p:pic>
        <p:nvPicPr>
          <p:cNvPr id="9" name="Image 0" descr="/home/reremouse/work/yishape-math/book/figures/fig_5_2_1_logistic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384048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21945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交叉熵损失: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L(w) = -[y log(ŷ) + (1-y) log(1-ŷ)]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输出概率而非硬标签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可解释性强（odds ratio）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梯度下降求解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K近邻 (KNN)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KNN算法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给定新样本x，找到K个最近邻，根据多数投票决定类别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计算距离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欧氏距离/余弦相似度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945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找K近邻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距离最小的K个样本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投票决策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多数类作为预测结果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K的选择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K太小: 对噪声敏感，过拟合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K太大: 类别边界模糊，欠拟合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常用: K ≈ √n 或交叉验证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决策边界示意</a:t>
            </a:r>
            <a:endParaRPr lang="en-US" sz="1400" dirty="0"/>
          </a:p>
        </p:txBody>
      </p:sp>
      <p:pic>
        <p:nvPicPr>
          <p:cNvPr id="27" name="Image 0" descr="/home/reremouse/work/yishape-math/book/figures/fig_5_2_2_knn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4160520"/>
            <a:ext cx="36576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支持向量机 (SVM)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SVM核心思想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找到最大间隔的分类超平面，使两类支持向量到超平面的距离最大化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间隔示意</a:t>
            </a:r>
            <a:endParaRPr lang="en-US" sz="1400" dirty="0"/>
          </a:p>
        </p:txBody>
      </p:sp>
      <p:pic>
        <p:nvPicPr>
          <p:cNvPr id="9" name="Image 0" descr="/home/reremouse/work/yishape-math/book/figures/fig_5_2_3_svm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21945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支持向量: 决定超平面的样本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间隔: 2/||w|| 越大越好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核函数: 处理非线性可分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常用核: RBF, 多项式, sigmoid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420624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SVM擅长高维小样本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朴素贝叶斯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贝叶斯定理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P(y|x) ∝ P(x|y) × P(y)  预测: argmax_y P(y|x)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「朴素」假设：特征条件独立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P(x₁,x₂|y) = P(x₁|y) × P(x₂|y)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虽现实中很少成立，但实践中效果意外地好。</a:t>
            </a:r>
            <a:endParaRPr lang="en-US" sz="1100" dirty="0"/>
          </a:p>
        </p:txBody>
      </p:sp>
      <p:pic>
        <p:nvPicPr>
          <p:cNvPr id="10" name="Image 0" descr="/home/reremouse/work/yishape-math/book/figures/fig_5_2_4_naive_ba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4206240" cy="822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219456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常用变种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27889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高斯NB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假设P(x|y)~正态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32918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3337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多项式NB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文本分类常用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379476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伯努利NB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二值特征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决策树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决策树示意</a:t>
            </a:r>
            <a:endParaRPr lang="en-US" sz="1400" dirty="0"/>
          </a:p>
        </p:txBody>
      </p:sp>
      <p:pic>
        <p:nvPicPr>
          <p:cNvPr id="6" name="Image 0" descr="/home/reremouse/work/yishape-math/book/figures/fig_5_2_5_decisi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2062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09728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分裂准则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37760" y="169164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Gini impurity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= 1 - Σp²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23317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Entropy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-Σp log(p)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29718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MSE (回归)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方差降低最大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7760" y="365760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过拟合风险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0" y="4160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解决: 剪枝、限制深度、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设置叶节点最小样本数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聚类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无监督学习：发现数据的自然分组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聚类 vs 分类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分类: 标签已知，有监督  |  聚类: 标签未知，无监督，自动发现结构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731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质心聚类，迭代优化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5603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层次聚类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树状图，层次结构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40480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DBSCAN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密度聚类，任意形状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840480"/>
            <a:ext cx="73152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高斯混合，概率软聚类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K-Means 聚类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K-Means 算法步骤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随机初始化K个质心  ② 分配样本到最近质心  ③ 更新质心  ④ 重复②③直至收敛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572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迭代过程</a:t>
            </a:r>
            <a:endParaRPr lang="en-US" sz="1400" dirty="0"/>
          </a:p>
        </p:txBody>
      </p:sp>
      <p:pic>
        <p:nvPicPr>
          <p:cNvPr id="9" name="Image 0" descr="/home/reremouse/work/yishape-math/book/figures/fig_5_3_1_kmeans_iter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420624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21945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K的选择: 肘部法则、轮廓系数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初始敏感: 用K-Means++初始化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只发现球形簇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对噪声和离群点敏感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收敛到局部最优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层次聚类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凝聚式 Agglomerative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自底向上：每步合并最近的两类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分裂式 Divisive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自顶向下：每步分裂最大的类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 Dendrogram</a:t>
            </a:r>
            <a:endParaRPr lang="en-US" sz="1400" dirty="0"/>
          </a:p>
        </p:txBody>
      </p:sp>
      <p:pic>
        <p:nvPicPr>
          <p:cNvPr id="14" name="Image 0" descr="/home/reremouse/work/yishape-math/book/figures/fig_5_3_2_hierarchical_dend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4663440" cy="16459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577840" y="25603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链接方法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310896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最近点距离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356616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最远点距离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402336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Average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4944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平均距离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448056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4944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方差降低最小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DBSCAN 与 GMM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DBSCAN 密度聚类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基于密度的聚类方法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可以发现任意形状簇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自动确定K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噪声点标记为-1</a:t>
            </a:r>
            <a:endParaRPr lang="en-US" sz="1100" dirty="0"/>
          </a:p>
        </p:txBody>
      </p:sp>
      <p:pic>
        <p:nvPicPr>
          <p:cNvPr id="8" name="Image 0" descr="/home/reremouse/work/yishape-math/book/figures/fig_5_3_5_db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36576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109728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GMM 高斯混合模型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假设数据由K个高斯分布生成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软聚类：输出样本属于各类的概率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EM算法求解</a:t>
            </a:r>
            <a:endParaRPr lang="en-US" sz="1100" dirty="0"/>
          </a:p>
        </p:txBody>
      </p:sp>
      <p:pic>
        <p:nvPicPr>
          <p:cNvPr id="13" name="Image 1" descr="/home/reremouse/work/yishape-math/book/figures/fig_5_3_4_gmm_ellip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3840480" cy="914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5760" y="3291840"/>
            <a:ext cx="8412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聚类质量评估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轮廓系数 Silhouette: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(b-a) / max(a,b)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a=样本到同簇其他点的平均距离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b=样本到最近簇的平均距离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s∈[-1,1]，越大越好</a:t>
            </a:r>
            <a:endParaRPr lang="en-US" sz="1100" dirty="0"/>
          </a:p>
        </p:txBody>
      </p:sp>
      <p:pic>
        <p:nvPicPr>
          <p:cNvPr id="17" name="Image 2" descr="/home/reremouse/work/yishape-math/book/figures/fig_5_3_3_silhouette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84048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PCA 主成分分析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PCA核心思想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在数据方差最大的方向（主成分）上做投影，实现降维同时保留信息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完整流程</a:t>
            </a:r>
            <a:endParaRPr lang="en-US" sz="1400" dirty="0"/>
          </a:p>
        </p:txBody>
      </p:sp>
      <p:pic>
        <p:nvPicPr>
          <p:cNvPr id="9" name="Image 0" descr="/home/reremouse/work/yishape-math/book/figures/fig_5_4_1_pca_full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8046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SVD与PCA的关系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PCA可以用SVD高效计算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UΣVᵀ  →  V 的列向量就是主成分方向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特征分解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协方差矩阵: C = XcᵀXc/n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特征分解: C = VΛVᵀ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取前K个特征向量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当d很大时计算量大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SVD（更常用）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直接SVD: Xc = UΣVᵀ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V的列向量即主成分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无需计算协方差矩阵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更数值稳定，效率更高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集成学习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三个臭皮匠，顶个诸葛亮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集成学习的核心思想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多个弱学习器组合，形成强学习器，降低方差和偏差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Bagging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并行训练，减小方差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随机森林是代表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560320"/>
            <a:ext cx="41148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1089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串行训练，减小偏差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AdaBoost/XGBoost是代表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随机森林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随机森林算法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Bootstrap抽样  ② 随机特征子集  ③ 每棵决策树独立训练  ④ 投票/平均输出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有放回抽样，增加多样性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9456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特征随机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每棵树只看部分特征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不剪枝，最大深度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0040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多数投票或平均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优点: 抗过拟合、特征重要性评估、处理缺失值、并行训练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XGBoost 与 AdaBoost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梯度提升框架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正则化项控制复杂度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二阶导数近似优化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缺失值自动处理</a:t>
            </a:r>
            <a:endParaRPr lang="en-US" sz="1100" dirty="0"/>
          </a:p>
        </p:txBody>
      </p:sp>
      <p:pic>
        <p:nvPicPr>
          <p:cNvPr id="8" name="Image 0" descr="/home/reremouse/work/yishape-math/book/figures/fig_5_5_2_xgboost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3657600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0972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AdaBoost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600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自适应提升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错误样本权重增加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逐步学习错误</a:t>
            </a:r>
            <a:endParaRPr lang="en-US" sz="1100" dirty="0"/>
          </a:p>
        </p:txBody>
      </p:sp>
      <p:pic>
        <p:nvPicPr>
          <p:cNvPr id="13" name="Image 1" descr="/home/reremouse/work/yishape-math/book/figures/fig_5_5_3_adaboost_we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3657600" cy="914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5760" y="34747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实战对比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Kaggle竞赛: 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28600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XGBoost/LightGBM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工业部署: 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2860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随机森林（易解释）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实时系统: 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28600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LightGBM（速度快）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Stacking 堆叠集成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Stacking核心思想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用多个基学习器的预测作为元学习器的输入，实现多层集成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Stacking 流程</a:t>
            </a:r>
            <a:endParaRPr lang="en-US" sz="1400" dirty="0"/>
          </a:p>
        </p:txBody>
      </p:sp>
      <p:pic>
        <p:nvPicPr>
          <p:cNvPr id="9" name="Image 0" descr="/home/reremouse/work/yishape-math/book/figures/fig_5_5_5_st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80467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机器学习知识地图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线性、岭、Lasso、正则化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LR、KNN、SVM、NB、决策树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344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K-Means、层次、DBSCAN、GMM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PCA、SVD、t-SNE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560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6974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RF、Boosting、Stacking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YiShape ML 代码风格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model = Models.lr(X_train, y_train); var pred = model.predict(X_test); var acc = Metrics.accuracy(y_test, pred);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机器学习</dc:title>
  <dc:subject>PptxGenJS Presentation</dc:subject>
  <dc:creator>YiShape Math Team</dc:creator>
  <cp:lastModifiedBy>YiShape Math Team</cp:lastModifiedBy>
  <cp:revision>1</cp:revision>
  <dcterms:created xsi:type="dcterms:W3CDTF">2026-04-14T08:51:43Z</dcterms:created>
  <dcterms:modified xsi:type="dcterms:W3CDTF">2026-04-14T08:51:43Z</dcterms:modified>
</cp:coreProperties>
</file>