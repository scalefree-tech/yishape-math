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914400"/>
            <a:ext cx="69494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188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统计学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从数据中推断真相的艺术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 | 推断 | 检验 | 贝叶斯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YiShape Math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4.0 统计学导论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理解数据的概率分布，才能做出正确的统计推断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统计学的核心问题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给定数据，如何推断产生这些数据的底层规律？反过来，这个规律能预测未来吗？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56032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97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概率基础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25603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560320"/>
            <a:ext cx="73152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697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9476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常用分布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25603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560320"/>
            <a:ext cx="73152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697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假设检验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66160"/>
            <a:ext cx="73152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703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ANOVA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35661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3566160"/>
            <a:ext cx="73152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3703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9476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贝叶斯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35661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3566160"/>
            <a:ext cx="73152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3703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2940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功效分析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六种基本分布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六种基本分布</a:t>
            </a:r>
            <a:endParaRPr lang="en-US" sz="1400" dirty="0"/>
          </a:p>
        </p:txBody>
      </p:sp>
      <p:pic>
        <p:nvPicPr>
          <p:cNvPr id="6" name="Image 0" descr="/home/reremouse/work/yishape-math/book/figures/fig_4_1_1_six_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4663440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109728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234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关键概念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60720" y="1645920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0" y="1691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8368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概率密度函数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2103120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148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CDF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累积分布函数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2560320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606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E[X]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583680" y="2606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期望值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60720" y="3017520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5216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Var(X)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583680" y="3063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方差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60720" y="3474720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2160" y="3520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Quantile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583680" y="3520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分位数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正态分布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正态分布公式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~ N(μ, σ²)   f(x) = (1/σ√(2π)) × exp(-(x-μ)²/2σ²)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94560"/>
            <a:ext cx="26517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68-95-99.7 法则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μ±1σ: 68.27%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μ±2σ: 95.45%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μ±3σ: 99.73%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1945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194560"/>
            <a:ext cx="26517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对称性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6974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关于μ对称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左尾=右尾概率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1945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194560"/>
            <a:ext cx="265176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线性组合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6974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独立正态随机变量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线性组合仍是正态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8412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典型应用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434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测量误差建模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51760" y="429768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4434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CLT中心极限定理基础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429768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434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回归分析假设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429768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4434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金融资产收益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中心极限定理 (CLT)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中心极限定理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无论原始分布是什么，当样本量足够大时，样本均值的分布趋近于正态分布。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5720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CLT 示意图</a:t>
            </a:r>
            <a:endParaRPr lang="en-US" sz="1400" dirty="0"/>
          </a:p>
        </p:txBody>
      </p:sp>
      <p:pic>
        <p:nvPicPr>
          <p:cNvPr id="9" name="Image 0" descr="/home/reremouse/work/yishape-math/book/figures/fig_4_1_2_clt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4206240" cy="1828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19456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为什么CLT重要？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03520" y="2788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正态分布是「万能近似」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0" y="32461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即使数据不正态，均值也可按正态处理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0" y="37033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奠定了假设检验的理论基础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03520" y="4160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样本量 n ≥ 30 通常近似足够好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Q-Q图：检验正态性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Q-Q图原理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如果数据服从正态分布，Q-Q图上的点应该落在一条直线上。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5720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Q-Q图示例</a:t>
            </a:r>
            <a:endParaRPr lang="en-US" sz="1400" dirty="0"/>
          </a:p>
        </p:txBody>
      </p:sp>
      <p:pic>
        <p:nvPicPr>
          <p:cNvPr id="9" name="Image 0" descr="/home/reremouse/work/yishape-math/book/figures/fig_4_1_3_qq_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4206240" cy="1828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19456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如何解读Q-Q图？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303520" y="278892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2834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点在直线上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符合正态分布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03520" y="342900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3474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S形曲线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5800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厚尾/薄尾分布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03520" y="406908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94960" y="4114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上凸/下凹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858000" y="4114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右偏/左偏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置信区间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置信区间的含义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 CI = [x̄ - 1.96σ/√n, x̄ + 1.96σ/√n]  意味着：重复抽样时，95%的置信区间会包含真实μ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5720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置信区间示意</a:t>
            </a:r>
            <a:endParaRPr lang="en-US" sz="1400" dirty="0"/>
          </a:p>
        </p:txBody>
      </p:sp>
      <p:pic>
        <p:nvPicPr>
          <p:cNvPr id="9" name="Image 0" descr="/home/reremouse/work/yishape-math/book/figures/fig_4_1_4_confidence_inter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4206240" cy="1828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19456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影响置信区间宽度的因素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303520" y="278892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2834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 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n越大，区间越窄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03520" y="342900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3474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置信水平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5800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1-α越大，区间越宽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03520" y="406908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94960" y="4114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标准差 σ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858000" y="4114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σ越大，区间越宽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P值：假设检验的量化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P值的定义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P值 = 在H₀为真的假设下，观测到比当前样本更极端结果的概率。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5720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P值与拒绝域</a:t>
            </a:r>
            <a:endParaRPr lang="en-US" sz="1400" dirty="0"/>
          </a:p>
        </p:txBody>
      </p:sp>
      <p:pic>
        <p:nvPicPr>
          <p:cNvPr id="9" name="Image 0" descr="/home/reremouse/work/yishape-math/book/figures/fig_4_1_5_pvalue_reg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4206240" cy="1828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19456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如何用P值做决策？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303520" y="278892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2834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&lt; 0.01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7512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极强证据拒绝H₀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03520" y="324612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3291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0.01 &lt; P &lt; 0.05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7512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拒绝H₀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03520" y="370332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94960" y="3749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0.05 &lt; P &lt; 0.1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67512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边缘，需谨慎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303520" y="416052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9496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&gt; 0.1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67512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不拒绝H₀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两类错误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第一类错误 (α)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含义: H₀为真但被拒绝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例子: 冤枉好人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P(拒绝H₀|H₀真)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97280"/>
            <a:ext cx="41148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第二类错误 (β)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含义: H₀为假但没拒绝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例子: 放过坏人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377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P(不拒绝H₀|H₀假)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8412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两类错误的关系</a:t>
            </a:r>
            <a:endParaRPr lang="en-US" sz="1400" dirty="0"/>
          </a:p>
        </p:txBody>
      </p:sp>
      <p:pic>
        <p:nvPicPr>
          <p:cNvPr id="18" name="Image 0" descr="/home/reremouse/work/yishape-math/book/figures/fig_4_1_6_type12_err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0"/>
            <a:ext cx="804672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常用分布一览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01168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正态 N(μ,σ²)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参数: μ, σ²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测量误差、CLT基础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005840"/>
            <a:ext cx="20116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005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伯努利 Bernoulli(p)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参数: 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06040" y="1783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一次二值实验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005840"/>
            <a:ext cx="201168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005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二项 Binom(n,p)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参数: n, 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1783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n次成功次数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100584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005840"/>
            <a:ext cx="2011680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1005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泊松 Pois(λ)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0372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参数: λ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03720" y="1783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稀有事件计数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74320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743200"/>
            <a:ext cx="201168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 Exp(λ)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参数: λ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3520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等待时间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14600" y="274320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14600" y="2743200"/>
            <a:ext cx="201168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251460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 Unif(a,b)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0604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参数: a, 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606040" y="3520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等可能性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74320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743200"/>
            <a:ext cx="201168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Beta(α,β)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参数: α, β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54880" y="3520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概率的先验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12280" y="274320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12280" y="2743200"/>
            <a:ext cx="2011680" cy="36576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41" name="Text 39"/>
          <p:cNvSpPr/>
          <p:nvPr/>
        </p:nvSpPr>
        <p:spPr>
          <a:xfrm>
            <a:off x="681228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Gamma(α,β)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参数: α, β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903720" y="3520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等待时间泛化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61772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分布关系：Bernoulli→Binomial→Poisson极限；Exp→Gamma；Beta→正态共轭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Beta分布与Gamma分布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Beta(α, β) 分布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概率参数的先验分布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0-1之间取值的连续变量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特殊: Beta(1,1)=Unif(0,1)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Beta(α,β)可看作 Dirichlet(α,β) 的边缘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97280"/>
            <a:ext cx="411480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Gamma(α, β) 分布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正态分布的共轭先验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等待时间建模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特殊: Gamma(k,θ) = Erlang(k,θ)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Gamma(α,β) with β=1 简化为 Gamma(α)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8412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29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Beta-Gamma 族关系</a:t>
            </a:r>
            <a:endParaRPr lang="en-US" sz="1400" dirty="0"/>
          </a:p>
        </p:txBody>
      </p:sp>
      <p:pic>
        <p:nvPicPr>
          <p:cNvPr id="16" name="Image 0" descr="/home/reremouse/work/yishape-math/book/figures/fig_4_2_4_beta_gam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0"/>
            <a:ext cx="804672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二项分布与泊松分布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二项分布 Binom(n, p)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P(X=k) = C(n,k) × p^k × (1-p)^(n-k)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适用: n次独立重复实验，成功次数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E[X] = np,  Var(X) = np(1-p)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97280"/>
            <a:ext cx="411480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泊松分布 Pois(λ)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P(X=k) = λ^k × e^(-λ) / k!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适用: 稀有事件、单位时间计数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E[X] = λ,  Var(X) = 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84124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0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极限关系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Binom(n, p) 当 n→∞, p→0, np=λ 时趋近于 Pois(λ)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泊松是二项在稀疏+大样本下的极限</a:t>
            </a:r>
            <a:endParaRPr lang="en-US" sz="1100" dirty="0"/>
          </a:p>
        </p:txBody>
      </p:sp>
      <p:pic>
        <p:nvPicPr>
          <p:cNvPr id="17" name="Image 0" descr="/home/reremouse/work/yishape-math/book/figures/fig_4_2_5_binomial_pois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931920"/>
            <a:ext cx="3657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假设检验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用数据做出科学决策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假设检验的逻辑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先假设H₀成立，然后问：在这个假设下，观测到的数据有多极端？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65176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提出假设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H₀: 原假设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H₁: 备择假设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256032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265176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选择检验统计量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= f(X₁,...,Xₙ)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在H₀下分布已知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56032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32120" y="265176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55321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确定拒绝域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选择显著性水平α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确定临界值c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49440" y="256032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26680" y="265176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77266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做出决策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若|T| &gt; c则拒绝H₀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否则不拒绝H₀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11480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实际应用：A/B测试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互联网产品迭代标配：实验组 vs 对照组 → 计算P值 → 决定是否上线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A/B测试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A/B测试的标准流程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流量分配 → 实验设计 → 数据收集 → 统计检验 → 决策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5720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A/B测试示意</a:t>
            </a:r>
            <a:endParaRPr lang="en-US" sz="1400" dirty="0"/>
          </a:p>
        </p:txBody>
      </p:sp>
      <p:pic>
        <p:nvPicPr>
          <p:cNvPr id="9" name="Image 0" descr="/home/reremouse/work/yishape-math/book/figures/fig_4_3_1_ab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4206240" cy="1828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19456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303520" y="278892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2834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转化率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7512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 = 转化数/访客数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303520" y="324612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3291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提升度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7512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 = (CR₂-CR₁)/CR₁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303520" y="370332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94960" y="3749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统计显著性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67512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P值 &lt; 0.05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303520" y="416052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9496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功效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67512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1-β, 通常&gt;0.8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多重检验问题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多重检验的陷阱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检验20个假设（α=0.05），即使全部为真，仍有1个被「显著」的概率 = 1-(1-0.05)^20 ≈ 64%！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1148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多重检验校正方法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Bonferroni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α_adj = α/m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简单但保守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Holm-Bonferroni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3474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逐级降序排列p值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比Bonferroni功效更高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14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Benjamini-Hochberg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控制FDR（伪发现率）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更宽松，更常用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194560"/>
            <a:ext cx="41148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多重检验示意</a:t>
            </a:r>
            <a:endParaRPr lang="en-US" sz="1400" dirty="0"/>
          </a:p>
        </p:txBody>
      </p:sp>
      <p:pic>
        <p:nvPicPr>
          <p:cNvPr id="20" name="Image 0" descr="/home/reremouse/work/yishape-math/book/figures/fig_4_3_2_multiple_tes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2743200"/>
            <a:ext cx="37490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 方差分析 (ANOVA)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DB277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ANOVA解决什么问题？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多个组（≥3）的均值比较。两两t检验会增加第一类错误，ANOVA一次性检验。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5720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ANOVA的逻辑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组间差异大（组间MS大）→ 组间有差异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组内差异小（组内MS小）→ 差异真实存在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 = 组间MS / 组内MS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 &gt;&gt; 1 时，拒绝H₀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219456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ANOVA示意</a:t>
            </a:r>
            <a:endParaRPr lang="en-US" sz="1400" dirty="0"/>
          </a:p>
        </p:txBody>
      </p:sp>
      <p:pic>
        <p:nvPicPr>
          <p:cNvPr id="15" name="Image 0" descr="/home/reremouse/work/yishape-math/book/figures/fig_4_4_1_ano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2743200"/>
            <a:ext cx="32918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 贝叶斯统计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贝叶斯定理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P(θ|X) = P(X|θ) × P(θ) / P(X)   即 后验 = 似然 × 先验 / 边际似然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94560"/>
            <a:ext cx="26517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 P(θ)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观测数据前的信念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19456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194560"/>
            <a:ext cx="26517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似然 P(X|θ)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697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给定参数下数据的概率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19456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194560"/>
            <a:ext cx="265176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后验 P(θ|X)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697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观测数据后的更新信念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8412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共轭先验的好处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先验和后验属于同一分布族，计算简化。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后验 = 共轭 × 似然 ∝ 共轭（更新参数）</a:t>
            </a:r>
            <a:endParaRPr lang="en-US" sz="1100" dirty="0"/>
          </a:p>
        </p:txBody>
      </p:sp>
      <p:pic>
        <p:nvPicPr>
          <p:cNvPr id="22" name="Image 0" descr="/home/reremouse/work/yishape-math/book/figures/fig_4_5_1_conjugate_pri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4023360"/>
            <a:ext cx="365760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 共轭先验对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似然: 二项分布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先验: Beta(α,β)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11887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后验: Beta(α+k, β+n-k)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5544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(参数更新: αₙ = α₀ + k 等)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5740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似然: 泊松分布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先验: Gamma(α,β)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21488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后验: Gamma(α+Σxᵢ, β+n)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5146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(参数更新: αₙ = α₀ + k 等)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017520"/>
            <a:ext cx="73152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似然: 正态分布(σ²已知)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先验: 正态 N(μ₀,σ₀²)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31089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后验: 正态 N(μₙ,σₙ²)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34747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(参数更新: αₙ = α₀ + k 等)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977640"/>
            <a:ext cx="73152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069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似然: 指数分布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434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先验: Gamma(α,β)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40690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后验: Gamma(α+n, β+Σxᵢ)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44348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(参数更新: αₙ = α₀ + k 等)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4.6 统计功效分析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什么是统计功效？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功效 = 1 - β = P(拒绝H₀ | H₁为真)  即，当效应真实存在时，正确检测到它的概率。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5720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功效分析示意</a:t>
            </a:r>
            <a:endParaRPr lang="en-US" sz="1400" dirty="0"/>
          </a:p>
        </p:txBody>
      </p:sp>
      <p:pic>
        <p:nvPicPr>
          <p:cNvPr id="9" name="Image 0" descr="/home/reremouse/work/yishape-math/book/figures/fig_4_6_1_power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4206240" cy="1828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19456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影响功效的因素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303520" y="278892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效应量 (d)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d越大，功效越高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03520" y="324612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3291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显著性水平 (α)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58000" y="3291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α越大，功效越高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03520" y="370332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94960" y="3749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 (n)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858000" y="3749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n越大，功效越高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303520" y="416052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94960" y="4206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标准差 (σ)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85800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σ越大，功效越低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4.6 样本量规划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样本量计算原理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f(α, β, d)  给定α、β、d，可计算所需最小样本量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84124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常用场景经验值（α=0.05, power=0.8）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单样本t检验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效应量: d=0.5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≈ ≈ 64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两独立样本t检验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效应量: d=0.5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≈ ≈ 210 (每组)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配对t检验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效应量: d=0.5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3703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≈ ≈ 52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ANOVA (k=3组)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效应量: f=0.25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4160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≈ ≈ 159 (每组)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4.7 统计学知识地图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概率基础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分布、CLT、置信区间、P值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2344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常用分布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691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正态、Beta、Gamma、二项、泊松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23444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假设检验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1691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A/B测试、多重检验校正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5603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ANOVA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3154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多组均值比较、F检验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5603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269748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贝叶斯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37560" y="3154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先验、后验、共轭先验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25603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69748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功效分析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72200" y="3154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样本量规划、效应量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11480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核心公式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CLT: X̄ ~ N(μ, σ²/n) | P值: P(观测或更极端|H₀) | Bayes: P(θ|X) ∝ P(X|θ)P(θ)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YiShape Math - 统计学</dc:title>
  <dc:subject>PptxGenJS Presentation</dc:subject>
  <dc:creator>YiShape Math Team</dc:creator>
  <cp:lastModifiedBy>YiShape Math Team</cp:lastModifiedBy>
  <cp:revision>1</cp:revision>
  <dcterms:created xsi:type="dcterms:W3CDTF">2026-04-14T08:46:51Z</dcterms:created>
  <dcterms:modified xsi:type="dcterms:W3CDTF">2026-04-14T08:46:51Z</dcterms:modified>
</cp:coreProperties>
</file>