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统计学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你看到的数据，是真相还是噪声？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33832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 · 推断 · 检验 · 贝叶斯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开场故事：那个让产品经理兴奋了2%的转化率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周一早会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数据分析师小王：「新功能上线后，实验组转化率8.2%，对照组6.1%，提升了2.1个百分点！建议全量上线！」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产品经理眼睛一亮，运营总监点头，这事就这么定了。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但如果你是决策者，你敢直接拍板吗？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3108960"/>
            <a:ext cx="8412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272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细思极恐的问题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这2.1个百分点的差距，是新功能真的有效，还是纯粹运气好（随机波动）？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如果再跑一轮同样的测试，差距会不会变成0.3%？或者变成了-0.5%？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学完这章你能做什么？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假设检验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判断「增长是趋势还是昙花一现」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置信区间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848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样本量只有200人，结论靠谱吗？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731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33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615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检验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8895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用数据证明「这批零件质量比上批好」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28416"/>
            <a:ext cx="73152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38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419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6941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三种广告文案效果有显著差异吗？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33088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428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4224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贝叶斯推断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4988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垃圾邮件过滤、疾病诊断的原理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统计学与产业决策的对应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AB测试判断功能是否有效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假设检验（t检验）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问卷/调研的误差范围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置信区间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2880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多组方案比较（广告/文案/设计）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ANOVA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828800"/>
            <a:ext cx="73152" cy="777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工厂零件质量控制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假设检验 + 置信区间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4320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推荐系统用户留存是否提升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配对t检验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74320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垃圾邮件过滤、疾病诊断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贝叶斯推断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本章知识地图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抽样与极限定理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大数定律、中心极限定理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概率分布族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正态、t、卡方、F、泊松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515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参数估计与假设检验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点估计、区间估计、p值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多组比较、F检验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4231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贝叶斯推断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先验、后验、共轭先验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4231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工业案例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质量控制、药物试验、功效分析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六种基本分布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六种基本分布</a:t>
            </a:r>
            <a:endParaRPr lang="en-US" sz="1400" dirty="0"/>
          </a:p>
        </p:txBody>
      </p:sp>
      <p:pic>
        <p:nvPicPr>
          <p:cNvPr id="6" name="Image 0" descr="/home/reremouse/work/yishape-math/book/pptx_output/charts/stats_1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6634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14400"/>
            <a:ext cx="3200400" cy="402336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关键概念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1645920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17190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0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概率密度函数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148840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221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2221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累积分布函数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651760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7249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E[X]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83680" y="2724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154680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227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Var(X)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83680" y="3227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方差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3657600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3730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Quantile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0" y="3730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分位数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正态分布 N(μ, σ²)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正态分布公式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~ N(μ, σ²)   f(x) = (1/σ√(2π)) × exp(-(x-μ)²/2σ²)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68-95-99.7 法则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μ±1σ: 68.27%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μ±2σ: 95.45%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μ±3σ: 99.73%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关于μ对称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左尾=右尾概率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5146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独立正态随机变量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线性组合仍是正态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典型应用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51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测量误差建模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51760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4251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CLT中心极限定理基础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251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回归分析假设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4251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金融资产收益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中心极限定理 (CLT)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中心极限定理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无论原始分布是什么，当样本量足够大时，样本均值的分布趋近于正态分布。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CLT可视化 | Central Limit Theorem</a:t>
            </a:r>
            <a:endParaRPr lang="en-US" sz="1400" dirty="0"/>
          </a:p>
        </p:txBody>
      </p:sp>
      <p:pic>
        <p:nvPicPr>
          <p:cNvPr id="9" name="Image 0" descr="/home/reremouse/work/yishape-math/book/pptx_output/charts/stats_2_c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8046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置信区间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置信区间的含义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CI = [x̄ - 1.96σ/√n, x̄ + 1.96σ/√n]  意味着：重复抽样时，95%的置信区间会包含真实μ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置信区间与假设检验</a:t>
            </a:r>
            <a:endParaRPr lang="en-US" sz="1400" dirty="0"/>
          </a:p>
        </p:txBody>
      </p:sp>
      <p:pic>
        <p:nvPicPr>
          <p:cNvPr id="9" name="Image 0" descr="/home/reremouse/work/yishape-math/book/pptx_output/charts/stats_3_ci_p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8046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P值：假设检验的量化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P值的定义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 = 在H₀为真的假设下，观测到比当前样本更极端结果的概率。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&lt; 0.01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极强证据拒绝H₀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11680"/>
            <a:ext cx="7315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 &lt; P &lt; 0.05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拒绝H₀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73152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71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 &lt; P &lt; 0.1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边缘，需谨慎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834640"/>
            <a:ext cx="731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71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&gt; 0.1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不拒绝H₀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误解警告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P值不是「H₀为真的概率」！P值是：如果H₀为真，我们看到当前数据或更极端数据的概率。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两类错误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第一类错误 (α)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含义: H₀为真但被拒绝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例子: 冤枉好人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P(拒绝H₀|H₀真)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第二类错误 (β)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含义: H₀为假但没拒绝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例子: 放过坏人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P(不拒绝H₀|H₀假)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 两类错误的权衡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α越小，β越大（不易冤枉好人，但容易放过坏人）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α越大，β越小（不易放过坏人，但容易冤枉好人）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样本量n增大时，可以同时减小α和β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功效 = 1 - β，正确检出真实效应的概率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常用分布一览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 N(μ,σ²)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μ, σ²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测量误差、CLT基础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914400"/>
            <a:ext cx="2011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91440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伯努利 Bernoulli(p)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691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一次二值实验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011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20116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二项 Binom(n,p)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n, 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n次成功次数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914400"/>
            <a:ext cx="2011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914400"/>
            <a:ext cx="201168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泊松 Pois(λ)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037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1691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稀有事件计数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2011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43200"/>
            <a:ext cx="20116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 Exp(λ)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λ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等待时间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2743200"/>
            <a:ext cx="2011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2743200"/>
            <a:ext cx="20116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251460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 Unif(a,b)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0604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a, 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06040" y="3520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等可能性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743200"/>
            <a:ext cx="2011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743200"/>
            <a:ext cx="201168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Beta(α,β)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α, β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0" y="3520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概率的先验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2743200"/>
            <a:ext cx="2011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2743200"/>
            <a:ext cx="2011680" cy="3657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1" name="Text 39"/>
          <p:cNvSpPr/>
          <p:nvPr/>
        </p:nvSpPr>
        <p:spPr>
          <a:xfrm>
            <a:off x="681228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Gamma(α,β)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α, β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3520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等待时间泛化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6177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分布关系：Bernoulli→Binomial→Poisson极限；Exp→Gamma；Beta→正态共轭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Beta分布与Gamma分布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Beta(α, β) 分布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概率参数的先验分布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0-1之间取值的连续变量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特殊: Beta(1,1)=Unif(0,1)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Beta(α,β)可看作 Dirichlet 的边缘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Gamma(α, β) 分布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正态分布的共轭先验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等待时间建模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特殊: Gamma(k,θ) = Erlang(k,θ)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Gamma(α,β) with β=1 简化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Beta-Gamma 族关系</a:t>
            </a:r>
            <a:endParaRPr lang="en-US" sz="1400" dirty="0"/>
          </a:p>
        </p:txBody>
      </p:sp>
      <p:pic>
        <p:nvPicPr>
          <p:cNvPr id="16" name="Image 0" descr="/home/reremouse/work/yishape-math/book/pptx_output/charts/stats_5_bayes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804672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二项分布与泊松分布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二项分布 Binom(n, 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P(X=k) = C(n,k) × p^k × (1-p)^(n-k)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n次独立重复实验，成功次数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E[X] = np,  Var(X) = np(1-p)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泊松分布 Pois(λ)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P(X=k) = λ^k × e^(-λ) / k!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稀有事件、单位时间计数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E[X] = λ,  Var(X) = 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极限关系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Binom(n, p) 当 n→∞, p→0, np=λ 时趋近于 Pois(λ)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泊松是二项在稀疏+大样本下的极限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这就是为什么泊松分布常用于稀有事件建模（网站访问、车辆过桥等）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假设检验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用数据做出科学决策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假设检验的逻辑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先假设H₀成立，然后问：在这个假设下，观测到的数据有多极端？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提出假设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H₀: 原假设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H₁: 备择假设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25603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选择检验统计量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f(X₁,...,Xₙ)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在H₀下分布已知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确定拒绝域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选择显著性水平α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确定临界值c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25603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做出决策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若|T| &gt; c则拒绝H₀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否则不拒绝H₀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实际应用：A/B测试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互联网产品迭代标配：实验组 vs 对照组 → 计算P值 → 决定是否上线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A/B测试详解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A/B测试的标准流程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流量分配 → 实验设计 → 数据收集 → 统计检验 → 决策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A/B测试示意</a:t>
            </a:r>
            <a:endParaRPr lang="en-US" sz="1400" dirty="0"/>
          </a:p>
        </p:txBody>
      </p:sp>
      <p:pic>
        <p:nvPicPr>
          <p:cNvPr id="9" name="Image 0" descr="/home/reremouse/work/yishape-math/book/pptx_output/charts/stats_3_ci_p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核心指标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60604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679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 = 转化数/访客数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03520" y="31546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2278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提升度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2278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= (CR₂-CR₁)/CR₁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03520" y="370332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7764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统计显著性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75120" y="3776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P值 &lt; 0.05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303520" y="425196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43251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4325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1-β, 通常&gt;0.8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方差分析 (ANOVA)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ANOVA解决什么问题？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多个组（≥3）的均值比较。两两t检验会增加第一类错误，ANOVA一次性检验。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ANOVA分析</a:t>
            </a:r>
            <a:endParaRPr lang="en-US" sz="1400" dirty="0"/>
          </a:p>
        </p:txBody>
      </p:sp>
      <p:pic>
        <p:nvPicPr>
          <p:cNvPr id="9" name="Image 0" descr="/home/reremouse/work/yishape-math/book/pptx_output/charts/stats_4_ano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8046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贝叶斯统计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贝叶斯定理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P(θ|X) = P(X|θ) × P(θ) / P(X)   即 后验 = 似然 × 先验 / 边际似然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 P(θ)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观测数据前的信念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 P(X|θ)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给定参数下数据的概率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后验 P(θ|X)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514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观测数据后的更新信念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贝叶斯推断可视化</a:t>
            </a:r>
            <a:endParaRPr lang="en-US" sz="1400" dirty="0"/>
          </a:p>
        </p:txBody>
      </p:sp>
      <p:pic>
        <p:nvPicPr>
          <p:cNvPr id="21" name="Image 0" descr="/home/reremouse/work/yishape-math/book/pptx_output/charts/stats_5_bayes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804672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 统计功效分析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什么是统计功效？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 = 1 - β = P(拒绝H₀ | H₁为真)  即，当效应真实存在时，正确检测到它的概率。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功效分析</a:t>
            </a:r>
            <a:endParaRPr lang="en-US" sz="1400" dirty="0"/>
          </a:p>
        </p:txBody>
      </p:sp>
      <p:pic>
        <p:nvPicPr>
          <p:cNvPr id="9" name="Image 0" descr="/home/reremouse/work/yishape-math/book/pptx_output/charts/stats_6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8046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代码示例 | Code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描述统计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data = [2.1, 2.5, 3.0, ...];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mean = Stats.mean(data);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std = Stats.std(data);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median = Stats.median(data);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分布检验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result = Stats.normTest(data);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pValue = result.pvalue;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 (pValue &lt; 0.05)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console.log("拒绝正态性假设");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假设检验 &amp; 贝叶斯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t检验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test = Stats.ttest(groupA, groupB);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 = test.pvalue;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贝叶斯更新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post = Stats.bayesUpdate(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prior: {alpha: 2, beta: 2},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data: {k: 6, n: 10}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ci = Stats.credibleInterval(post);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中心极限定理：为什么它这么重要？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小故事：木匠的智慧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一个经验丰富的木匠说：「我不需要量每一块木板的长度来判断这批木料够不够用。」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「我只需要随机抽30块，量一下长度，然后算个平均值。如果这个平均值差得离谱，我基本就知道整批木料有问题。」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这个木匠凭直觉应用的，正是中心极限定理！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CLT的核心洞察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无论原始分布是什么（可能严重偏态、有异常值）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只要样本量够大（通常n≥30），均值就会「变得正态」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这就是为什么正态分布无处不在——它是「万用的近似」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奠定了假设检验的理论基础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P值的正确理解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645920"/>
          </a:xfrm>
          <a:prstGeom prst="roundRect">
            <a:avLst>
              <a:gd name="adj" fmla="val 3333"/>
            </a:avLst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P值的误解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 = 0.03 ≠ 「H₀为真的概率是3%」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 = 0.03 ≠ 「研究假设成立的可能性是97%」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这些都是对P值的严重误解！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84124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P值的正确含义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 = 0.03 意味着：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如果H₀为真（假设成立），我们重复做很多次实验，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大约有3%的实验会观测到当前数据或更极端的数据。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所以P值衡量的是「数据与H₀的吻合程度」，而不是「H₀为真的概率」。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多重检验问题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多重检验的陷阱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检验20个假设（α=0.05），即使全部为真，仍有1个被「显著」的概率 = 1-(1-0.05)^20 ≈ 64%！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Bonferroni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α_adj = α/m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简单但保守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Holm-Bonferroni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逐级降序排列p值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比Bonferroni功效更高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Benjamini-Hochberg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697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控制FDR（伪发现率）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更宽松，更常用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实践建议：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基因组学、神经科学：通常用FDR控制（Benjamini-Hochberg）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临床试验：多用Bonferroni（更保守）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探索性研究：可以放宽标准，但需明确说明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共轭先验对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似然: 二项分布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先验: Beta(α,β)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0058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后验: Beta(α+k, β+n-k)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3716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(参数更新: αₙ = α₀ + k 等)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7452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似然: 泊松分布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先验: Gamma(α,β)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965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后验: Gamma(α+Σxᵢ, β+n)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331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(参数更新: αₙ = α₀ + k 等)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73152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似然: 正态分布(σ²已知)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先验: 正态 N(μ₀,σ₀²)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926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后验: 正态 N(μₙ,σₙ²)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291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(参数更新: αₙ = α₀ + k 等)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94760"/>
            <a:ext cx="73152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似然: 指数分布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先验: Gamma(α,β)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8862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后验: Gamma(α+n, β+Σxᵢ)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4251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(参数更新: αₙ = α₀ + k 等)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 样本量规划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样本量计算原理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f(α, β, d)  给定α、β、d，可计算所需最小样本量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常用场景经验值（α=0.05, power=0.8）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单样本t检验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效应量: d=0.5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≈ ≈ 64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两独立样本t检验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效应量: d=0.5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≈ ≈ 210 (每组)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配对t检验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效应量: d=0.5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≈ ≈ 52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 (k=3组)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效应量: f=0.25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≈ ≈ 159 (每组)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贝叶斯推断：垃圾邮件过滤器原理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小故事：你的邮箱怎么知道这是垃圾邮件？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当你在邮箱里标记了一封「免费」「赚钱」「限时」为垃圾邮件，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贝叶斯过滤器就开始学习了：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P(垃圾|出现"免费") = P("免费"|垃圾) × P(垃圾) / P("免费")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每标记一封，它就更新一次后验概率。这就是为什么过滤器越用越准！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朴素贝叶斯的「朴素」假设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「朴素」假设：各个词之间相互独立。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P("免费","赚钱"|垃圾) ≈ P("免费"|垃圾) × P("赚钱"|垃圾)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这在现实中几乎不成立（"免费"和"赚钱"经常一起出现），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但实践中效果意外地好！这就是「朴素」的力量。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医学诊断中的贝叶斯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小故事：为什么医学检测会有这么多假阳性？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假设：某种疾病患病率是1%，检测准确率是99%。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如果你的检测结果是阳性，你真的患病的概率是多少？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直觉可能是99%——但答案是约50%！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原因：患病者只有1%，即使准确率99%，99%的误检会来自健康人。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计算过程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P(患病|阳性) = P(阳性|患病) × P(患病) / P(阳性)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0.99 × 0.01 / (0.99×0.01 + 0.01×0.99)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0.0099 / 0.0198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50%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这就是为什么需要进一步检查（如复查）来确认诊断！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 Part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概率基础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分布、CLT、置信区间、P值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常用分布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正态、Beta、Gamma、二项、泊松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假设检验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A/B测试、多重检验校正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 Part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多组均值比较、F检验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先验、后验、共轭先验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样本量规划、效应量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统计学不是数学游戏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统计学的核心洞察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统计学的本质是「在数据噪声中做出可靠决策」的科学。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它告诉我们：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观察到的差异是真实的还是随机的？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样本量要多大才可靠？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如何结合先验知识和新证据？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926080"/>
            <a:ext cx="265176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P值不是真理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它只是决策的一个参考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92608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926080"/>
            <a:ext cx="265176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样本量越大越可靠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383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但也要考虑成本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926080"/>
            <a:ext cx="265176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贝叶斯更直观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383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结合先验与数据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Stats.mean() | Stats.ttest() | Stats.bayesUpdate() | Stats.powerAnalysis()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统计学</dc:title>
  <dc:subject>PptxGenJS Presentation</dc:subject>
  <dc:creator>YiShape Math Team</dc:creator>
  <cp:lastModifiedBy>YiShape Math Team</cp:lastModifiedBy>
  <cp:revision>1</cp:revision>
  <dcterms:created xsi:type="dcterms:W3CDTF">2026-04-14T12:17:35Z</dcterms:created>
  <dcterms:modified xsi:type="dcterms:W3CDTF">2026-04-14T12:17:35Z</dcterms:modified>
</cp:coreProperties>
</file>